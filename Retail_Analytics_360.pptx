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01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47B7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F45B4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</a:t>
            </a:r>
            <a:r>
              <a:rPr lang="en-US" sz="1300" b="1" kern="0" spc="200" dirty="0" smtClean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Analytics 360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Dashboard for a Global Electronics Retailer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377440" cy="0"/>
          </a:xfrm>
          <a:prstGeom prst="line">
            <a:avLst/>
          </a:prstGeom>
          <a:noFill/>
          <a:ln w="31750">
            <a:solidFill>
              <a:srgbClr val="F45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Data Modeling (Snowflake Schema)  ·  Interactive Dashboard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00" dirty="0" smtClean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 smtClean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 SRIVASTAVA</a:t>
            </a:r>
            <a:r>
              <a:rPr lang="en-US" sz="1200" dirty="0" smtClean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electronics retailer sells across multiple countries, stores, and product categories — but its sales, customer, product, and store data sits in disconnected raw tables. Leadership has no single, reliable view of performance.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F45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3337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368503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customers, products &amp; stores live in separate raw files with no defined relationships.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1546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3383280"/>
            <a:ext cx="457200" cy="457200"/>
          </a:xfrm>
          <a:prstGeom prst="ellipse">
            <a:avLst/>
          </a:prstGeom>
          <a:solidFill>
            <a:srgbClr val="F45B4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3337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Insights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368503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basic questions (top category, best market, repeat customers) needs manual, slow analysis.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rgbClr val="F45B4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120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46811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as text, mixed currencies, missing values and unformatted dates block direct reporting.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9377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5166360"/>
            <a:ext cx="457200" cy="457200"/>
          </a:xfrm>
          <a:prstGeom prst="ellipse">
            <a:avLst/>
          </a:prstGeom>
          <a:solidFill>
            <a:srgbClr val="F45B4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5120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546811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interactive, drill-down dashboard exists for management to monitor sales &amp; profitability.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141732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14285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5727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18288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scattered retail data into one interactive source of truth for decision-making.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an end-to-end Power BI solution — from raw CSV </a:t>
            </a:r>
            <a:r>
              <a:rPr lang="en-US" sz="145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files. I</a:t>
            </a:r>
            <a:r>
              <a:rPr lang="en-US" sz="145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and organized the data, created a data model, and developed five interactive pages to analyze sales, customers, products, and overall business performance</a:t>
            </a:r>
            <a:r>
              <a:rPr lang="en-US" sz="145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70048" cy="3291840"/>
          </a:xfrm>
          <a:prstGeom prst="roundRect">
            <a:avLst>
              <a:gd name="adj" fmla="val 3082"/>
            </a:avLst>
          </a:prstGeom>
          <a:solidFill>
            <a:srgbClr val="1428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3464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raw Sales, Customers, Products, Stores &amp; Exchange Rate tables (Maven Analytics dataset).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38144" y="2606040"/>
            <a:ext cx="2670048" cy="3291840"/>
          </a:xfrm>
          <a:prstGeom prst="roundRect">
            <a:avLst>
              <a:gd name="adj" fmla="val 3082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283464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66744" y="33832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6744" y="379476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used to fix types, handle nulls, convert currency &amp; standardize keys.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990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27648" y="2606040"/>
            <a:ext cx="2670048" cy="3291840"/>
          </a:xfrm>
          <a:prstGeom prst="roundRect">
            <a:avLst>
              <a:gd name="adj" fmla="val 3082"/>
            </a:avLst>
          </a:prstGeom>
          <a:solidFill>
            <a:srgbClr val="142850"/>
          </a:solidFill>
          <a:ln/>
        </p:spPr>
      </p:sp>
      <p:sp>
        <p:nvSpPr>
          <p:cNvPr id="16" name="Text 14"/>
          <p:cNvSpPr/>
          <p:nvPr/>
        </p:nvSpPr>
        <p:spPr>
          <a:xfrm>
            <a:off x="6556248" y="283464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56248" y="33832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6248" y="379476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Snowflake schema linking fact_sales to normalized dimension tables.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7940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17152" y="2606040"/>
            <a:ext cx="2670048" cy="3291840"/>
          </a:xfrm>
          <a:prstGeom prst="roundRect">
            <a:avLst>
              <a:gd name="adj" fmla="val 3082"/>
            </a:avLst>
          </a:prstGeom>
          <a:solidFill>
            <a:srgbClr val="147B7D"/>
          </a:solidFill>
          <a:ln/>
        </p:spPr>
      </p:sp>
      <p:sp>
        <p:nvSpPr>
          <p:cNvPr id="21" name="Text 19"/>
          <p:cNvSpPr/>
          <p:nvPr/>
        </p:nvSpPr>
        <p:spPr>
          <a:xfrm>
            <a:off x="9445752" y="283464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445752" y="33832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45752" y="379476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5-page dashboard: Home, Sales, Customers, Products &amp; Insights.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in Power Query before modeling — typical steps applied to the raw Maven Analytics tables: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997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997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039112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&amp; blank rows from Customers, Products and Sales tables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22997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2997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2039112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Unit Cost / Unit Price from text ($) to proper numeric/currency fields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3329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3329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072384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 Date, Delivery Date &amp; Birthday columns to correct Date type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999232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3952" y="33329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33329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3072384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the Exchange Rate table to derive unit_cost_usd / unit_price_usd for consistent reporting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43662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3662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105656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Country / State naming so dimension tables join cleanly to fact_sales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032504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43662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43662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105656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or flagged missing State Code values for a few countries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65776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53995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3995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138928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invalid, negative or zero quantity / cost values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5065776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3952" y="53995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47B7D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53995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5138928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surrogate keys (customerkey, productkey, storekey, subcategorykey, categorykey) for relationships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Data Model in SQL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collecting the raw dataset, SQL was used to prepare it for analysis. The data was structured into a central Fact Sales table and multiple Dimension tables, with the required relationships established between them, and cleaning &amp; validation performed directly in SQL.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CREATED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965960" cy="1133856"/>
          </a:xfrm>
          <a:prstGeom prst="roundRect">
            <a:avLst>
              <a:gd name="adj" fmla="val 6452"/>
            </a:avLst>
          </a:prstGeom>
          <a:solidFill>
            <a:srgbClr val="1428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163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2651760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651760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69764" y="2651760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9764" y="2651760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42048" y="2651760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2651760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14332" y="2651760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4332" y="2651760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97480" y="3282696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282696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69764" y="3282696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9764" y="3282696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Dim_Subcategory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42048" y="3282696"/>
            <a:ext cx="2125980" cy="502920"/>
          </a:xfrm>
          <a:prstGeom prst="roundRect">
            <a:avLst>
              <a:gd name="adj" fmla="val 12727"/>
            </a:avLst>
          </a:prstGeom>
          <a:solidFill>
            <a:srgbClr val="DCEEF0"/>
          </a:solidFill>
          <a:ln w="9525">
            <a:solidFill>
              <a:srgbClr val="147B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3282696"/>
            <a:ext cx="2125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Dim_Currency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connects to every dimension through shared surrogate keys — the foundation of the Snowflake schema.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636008"/>
            <a:ext cx="365760" cy="365760"/>
          </a:xfrm>
          <a:prstGeom prst="ellipse">
            <a:avLst/>
          </a:prstGeom>
          <a:solidFill>
            <a:srgbClr val="147B7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51206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Model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5605272"/>
            <a:ext cx="22677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raw data into one Fact Sales table and dimension tables for Date, Product, Customer, Store, Category, Subcategory &amp; Currency.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38144" y="44348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9312" y="4636008"/>
            <a:ext cx="365760" cy="365760"/>
          </a:xfrm>
          <a:prstGeom prst="ellipse">
            <a:avLst/>
          </a:prstGeom>
          <a:solidFill>
            <a:srgbClr val="F45B4E"/>
          </a:solidFill>
          <a:ln/>
        </p:spPr>
      </p:sp>
      <p:sp>
        <p:nvSpPr>
          <p:cNvPr id="32" name="Text 30"/>
          <p:cNvSpPr/>
          <p:nvPr/>
        </p:nvSpPr>
        <p:spPr>
          <a:xfrm>
            <a:off x="3639312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39312" y="51206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Relationships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39312" y="5605272"/>
            <a:ext cx="22677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primary/foreign key relationships linking Fact Sales to each dimension table.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44348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528816" y="4636008"/>
            <a:ext cx="365760" cy="365760"/>
          </a:xfrm>
          <a:prstGeom prst="ellipse">
            <a:avLst/>
          </a:prstGeom>
          <a:solidFill>
            <a:srgbClr val="147B7D"/>
          </a:solidFill>
          <a:ln/>
        </p:spPr>
      </p:sp>
      <p:sp>
        <p:nvSpPr>
          <p:cNvPr id="37" name="Text 35"/>
          <p:cNvSpPr/>
          <p:nvPr/>
        </p:nvSpPr>
        <p:spPr>
          <a:xfrm>
            <a:off x="6528816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28816" y="51206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 in SQL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28816" y="5605272"/>
            <a:ext cx="22677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values, removed duplicates, and validated data consistency using SQL queries.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17152" y="44348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41" name="Shape 39"/>
          <p:cNvSpPr/>
          <p:nvPr/>
        </p:nvSpPr>
        <p:spPr>
          <a:xfrm>
            <a:off x="9418320" y="4636008"/>
            <a:ext cx="365760" cy="365760"/>
          </a:xfrm>
          <a:prstGeom prst="ellipse">
            <a:avLst/>
          </a:prstGeom>
          <a:solidFill>
            <a:srgbClr val="F45B4E"/>
          </a:solidFill>
          <a:ln/>
        </p:spPr>
      </p:sp>
      <p:sp>
        <p:nvSpPr>
          <p:cNvPr id="42" name="Text 40"/>
          <p:cNvSpPr/>
          <p:nvPr/>
        </p:nvSpPr>
        <p:spPr>
          <a:xfrm>
            <a:off x="9418320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18320" y="51206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Power BI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418320" y="5605272"/>
            <a:ext cx="22677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structured Snowflake schema into Power BI for modeling, DAX measures &amp; dashboard build.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Snowflake Schema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centers on warehouse_fact_sales, linked to normalized dimension tables. Product hierarchy is split into dim_product → dim_subcategory → dim_category, and dim_store connects out to dim_currency — the extra layers of linked lookup tables are what make this a Snowflake schema rather than a simple star schema.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42062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9319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4133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warehouse_fact_sales — order, quantity, pricing &amp; delivery grain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4562856"/>
            <a:ext cx="42062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6085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4809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dim_customer, dim_product, dim_store, dim_date, dim_category, dim_subcategory, dim_currency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5239512"/>
            <a:ext cx="42062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52852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486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 → dim_subcategory → dim_category  |  dim_store → dim_currency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916168"/>
            <a:ext cx="42062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9618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Measures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61630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Profit, Avg Order Value, Avg Unit Margin, Avg Orders/Customer &amp; more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1417320"/>
            <a:ext cx="6629400" cy="4892040"/>
          </a:xfrm>
          <a:prstGeom prst="roundRect">
            <a:avLst>
              <a:gd name="adj" fmla="val 93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0" descr="/home/claude/deck/images/p6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554480"/>
            <a:ext cx="6355080" cy="40599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66360" y="5669280"/>
            <a:ext cx="6355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 View — Snowflake Schema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— Executive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6968" y="18653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$56M total sales, $33M gross profit, 26K orders, 12K customers, 59% profit margin.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59689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at a Glance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950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over time and Sales vs Profit by month, side by side.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6210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913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(donut) and Sales by Country (bar) for quick context.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6451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Narrative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 tiles summarize the standout facts, e.g. Computers leads by category.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21554" y="1371600"/>
            <a:ext cx="6976012" cy="502920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73" y="1484493"/>
            <a:ext cx="6871287" cy="47492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Economics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6968" y="18653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Selling Price $282, Avg. Order Value $2.12K, 198K units sold, 7.51 items/order.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59689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950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sales, led by WMI &amp; Adventure Works Desktop PCs.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6210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913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Subcategory donut — Desktops leads at 25.3% of sales.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6451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Volume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by sales (Adventure Works, Contoso) and quantity sold by category.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01589" y="1371600"/>
            <a:ext cx="7015942" cy="502920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/home/claude/deck/images/p2_sale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029" y="1463040"/>
            <a:ext cx="6833062" cy="4846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6968" y="18653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total customers, 7K repeat customers — a 61.2% repeat rate.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59689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per Customer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950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revenue/customer $4.69K and 2.21 avg orders per customer.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6210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Gender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913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by country (US leads) and a near-even 50.8% / 49.2% gender split.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6451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by 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share by continent and avg orders/customer by country.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54055" y="1371600"/>
            <a:ext cx="7111011" cy="502920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/home/claude/deck/images/p3_customer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495" y="1463040"/>
            <a:ext cx="6928131" cy="4846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6968" y="18653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total products, avg unit price $357, avg unit cost $148, avg margin $209.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59689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Footprint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950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 treemap — Home Appliances &amp; Computers dominate the range.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6210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913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vs unit cost compared across every category.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6451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margin scatter and top subcategories by product count.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3726" y="1371600"/>
            <a:ext cx="7191667" cy="502920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/home/claude/deck/images/p4_produc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166" y="1463040"/>
            <a:ext cx="7008787" cy="4846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6968" y="18653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Auto-written narrative on overall sales &amp; profitability trends.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59689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950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Sales, Profitability, Markets, Products &amp; Customers.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47B7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6210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913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high-margin categories, key markets, product mix &amp; retention.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5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6451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declining sales, low-margin categories, and market concentration risk.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1534073"/>
            <a:ext cx="7680960" cy="4704254"/>
          </a:xfrm>
          <a:prstGeom prst="roundRect">
            <a:avLst>
              <a:gd name="adj" fmla="val 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/home/claude/deck/images/p5_insigh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625513"/>
            <a:ext cx="7498080" cy="452137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Global Electronics Retailer  |  Maven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85832" y="6519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47B7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F45B4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360  |  Built on the Maven Analytics Global Electronics Retailer dataset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1227</Words>
  <Application>Microsoft Office PowerPoint</Application>
  <PresentationFormat>Widescreen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 COMPUTER'S</cp:lastModifiedBy>
  <cp:revision>3</cp:revision>
  <dcterms:created xsi:type="dcterms:W3CDTF">2026-08-11T03:37:47Z</dcterms:created>
  <dcterms:modified xsi:type="dcterms:W3CDTF">2026-08-11T06:04:46Z</dcterms:modified>
</cp:coreProperties>
</file>